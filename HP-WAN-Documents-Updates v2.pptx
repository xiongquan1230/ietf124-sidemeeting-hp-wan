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47" r:id="rId2"/>
    <p:sldId id="440" r:id="rId3"/>
    <p:sldId id="441" r:id="rId4"/>
    <p:sldId id="378" r:id="rId5"/>
    <p:sldId id="437" r:id="rId6"/>
    <p:sldId id="439" r:id="rId7"/>
    <p:sldId id="428" r:id="rId8"/>
    <p:sldId id="37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2">
          <p15:clr>
            <a:srgbClr val="A4A3A4"/>
          </p15:clr>
        </p15:guide>
        <p15:guide id="2" pos="246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217067" initials="1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2A93FB"/>
    <a:srgbClr val="71B7FC"/>
    <a:srgbClr val="E7D3DD"/>
    <a:srgbClr val="ADB9CA"/>
    <a:srgbClr val="FFFFFF"/>
    <a:srgbClr val="D1E5F4"/>
    <a:srgbClr val="0070C0"/>
    <a:srgbClr val="096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2610" y="354"/>
      </p:cViewPr>
      <p:guideLst>
        <p:guide orient="horz" pos="2642"/>
        <p:guide pos="2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BAF1-0B6D-473E-8A62-3340F220D1D1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22D35-BFAD-40E3-A96B-5A0388BA2D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north-south traffic</a:t>
            </a:r>
            <a:r>
              <a:rPr lang="zh-CN" altLang="en-US"/>
              <a:t>需要加入一个手机，表示用户发出的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6"/>
          <p:cNvSpPr/>
          <p:nvPr/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7" name="椭圆 7"/>
          <p:cNvSpPr/>
          <p:nvPr/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8" name="任意多边形: 形状 8"/>
          <p:cNvSpPr/>
          <p:nvPr/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9" name="任意多边形: 形状 9"/>
          <p:cNvSpPr/>
          <p:nvPr/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0" name="任意多边形: 形状 10"/>
          <p:cNvSpPr/>
          <p:nvPr/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1" name="任意多边形: 形状 11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2" name="KSO_Shape"/>
          <p:cNvSpPr/>
          <p:nvPr/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/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/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/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 184"/>
          <p:cNvSpPr/>
          <p:nvPr/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749459" y="2343802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749459" y="3294698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21C4A0F-14F1-4898-8B13-D756F0CCE0C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6648728"/>
            <a:ext cx="12192000" cy="90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0" y="6681576"/>
            <a:ext cx="12192000" cy="1753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www.fiberhome.com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758224" y="6542530"/>
            <a:ext cx="10433776" cy="100800"/>
          </a:xfrm>
          <a:prstGeom prst="rect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3" y="6432489"/>
            <a:ext cx="1592194" cy="329213"/>
          </a:xfrm>
          <a:prstGeom prst="rect">
            <a:avLst/>
          </a:prstGeom>
        </p:spPr>
      </p:pic>
      <p:cxnSp>
        <p:nvCxnSpPr>
          <p:cNvPr id="24" name="直接连接符 23"/>
          <p:cNvCxnSpPr/>
          <p:nvPr userDrawn="1"/>
        </p:nvCxnSpPr>
        <p:spPr>
          <a:xfrm flipH="1">
            <a:off x="8109857" y="6761702"/>
            <a:ext cx="24514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 userDrawn="1"/>
        </p:nvSpPr>
        <p:spPr>
          <a:xfrm rot="5400000">
            <a:off x="-13909" y="6467220"/>
            <a:ext cx="201682" cy="173864"/>
          </a:xfrm>
          <a:prstGeom prst="triangle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878" y="308417"/>
            <a:ext cx="1559765" cy="747833"/>
          </a:xfrm>
          <a:prstGeom prst="rect">
            <a:avLst/>
          </a:prstGeom>
        </p:spPr>
      </p:pic>
      <p:sp>
        <p:nvSpPr>
          <p:cNvPr id="26" name="矩形 25"/>
          <p:cNvSpPr/>
          <p:nvPr userDrawn="1"/>
        </p:nvSpPr>
        <p:spPr>
          <a:xfrm>
            <a:off x="37542" y="0"/>
            <a:ext cx="131302" cy="551582"/>
          </a:xfrm>
          <a:prstGeom prst="rect">
            <a:avLst/>
          </a:prstGeom>
          <a:solidFill>
            <a:srgbClr val="0B4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161413" y="0"/>
            <a:ext cx="73997" cy="62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www.fiberhome.com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0" y="6648728"/>
            <a:ext cx="12192000" cy="90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 userDrawn="1"/>
        </p:nvSpPr>
        <p:spPr>
          <a:xfrm rot="19982002">
            <a:off x="10539659" y="-271289"/>
            <a:ext cx="1735430" cy="1261657"/>
          </a:xfrm>
          <a:custGeom>
            <a:avLst/>
            <a:gdLst>
              <a:gd name="connsiteX0" fmla="*/ 317500 w 1009650"/>
              <a:gd name="connsiteY0" fmla="*/ 0 h 635000"/>
              <a:gd name="connsiteX1" fmla="*/ 0 w 1009650"/>
              <a:gd name="connsiteY1" fmla="*/ 317500 h 635000"/>
              <a:gd name="connsiteX2" fmla="*/ 317500 w 1009650"/>
              <a:gd name="connsiteY2" fmla="*/ 635000 h 635000"/>
              <a:gd name="connsiteX3" fmla="*/ 1009650 w 1009650"/>
              <a:gd name="connsiteY3" fmla="*/ 635000 h 635000"/>
              <a:gd name="connsiteX4" fmla="*/ 1009650 w 1009650"/>
              <a:gd name="connsiteY4" fmla="*/ 0 h 635000"/>
              <a:gd name="connsiteX5" fmla="*/ 317500 w 1009650"/>
              <a:gd name="connsiteY5" fmla="*/ 0 h 635000"/>
              <a:gd name="connsiteX0-1" fmla="*/ 238574 w 1009650"/>
              <a:gd name="connsiteY0-2" fmla="*/ 77415 h 635000"/>
              <a:gd name="connsiteX1-3" fmla="*/ 0 w 1009650"/>
              <a:gd name="connsiteY1-4" fmla="*/ 317500 h 635000"/>
              <a:gd name="connsiteX2-5" fmla="*/ 317500 w 1009650"/>
              <a:gd name="connsiteY2-6" fmla="*/ 635000 h 635000"/>
              <a:gd name="connsiteX3-7" fmla="*/ 1009650 w 1009650"/>
              <a:gd name="connsiteY3-8" fmla="*/ 635000 h 635000"/>
              <a:gd name="connsiteX4-9" fmla="*/ 1009650 w 1009650"/>
              <a:gd name="connsiteY4-10" fmla="*/ 0 h 635000"/>
              <a:gd name="connsiteX5-11" fmla="*/ 238574 w 1009650"/>
              <a:gd name="connsiteY5-12" fmla="*/ 77415 h 635000"/>
              <a:gd name="connsiteX0-13" fmla="*/ 238574 w 1009650"/>
              <a:gd name="connsiteY0-14" fmla="*/ 0 h 557585"/>
              <a:gd name="connsiteX1-15" fmla="*/ 0 w 1009650"/>
              <a:gd name="connsiteY1-16" fmla="*/ 240085 h 557585"/>
              <a:gd name="connsiteX2-17" fmla="*/ 317500 w 1009650"/>
              <a:gd name="connsiteY2-18" fmla="*/ 557585 h 557585"/>
              <a:gd name="connsiteX3-19" fmla="*/ 1009650 w 1009650"/>
              <a:gd name="connsiteY3-20" fmla="*/ 557585 h 557585"/>
              <a:gd name="connsiteX4-21" fmla="*/ 951930 w 1009650"/>
              <a:gd name="connsiteY4-22" fmla="*/ 270478 h 557585"/>
              <a:gd name="connsiteX5-23" fmla="*/ 238574 w 1009650"/>
              <a:gd name="connsiteY5-24" fmla="*/ 0 h 557585"/>
              <a:gd name="connsiteX0-25" fmla="*/ 238574 w 1009650"/>
              <a:gd name="connsiteY0-26" fmla="*/ 0 h 557585"/>
              <a:gd name="connsiteX1-27" fmla="*/ 0 w 1009650"/>
              <a:gd name="connsiteY1-28" fmla="*/ 240085 h 557585"/>
              <a:gd name="connsiteX2-29" fmla="*/ 317500 w 1009650"/>
              <a:gd name="connsiteY2-30" fmla="*/ 557585 h 557585"/>
              <a:gd name="connsiteX3-31" fmla="*/ 1009650 w 1009650"/>
              <a:gd name="connsiteY3-32" fmla="*/ 557585 h 557585"/>
              <a:gd name="connsiteX4-33" fmla="*/ 943235 w 1009650"/>
              <a:gd name="connsiteY4-34" fmla="*/ 284119 h 557585"/>
              <a:gd name="connsiteX5-35" fmla="*/ 238574 w 1009650"/>
              <a:gd name="connsiteY5-36" fmla="*/ 0 h 557585"/>
              <a:gd name="connsiteX0-37" fmla="*/ 238574 w 1009650"/>
              <a:gd name="connsiteY0-38" fmla="*/ 0 h 557585"/>
              <a:gd name="connsiteX1-39" fmla="*/ 0 w 1009650"/>
              <a:gd name="connsiteY1-40" fmla="*/ 240085 h 557585"/>
              <a:gd name="connsiteX2-41" fmla="*/ 317500 w 1009650"/>
              <a:gd name="connsiteY2-42" fmla="*/ 557585 h 557585"/>
              <a:gd name="connsiteX3-43" fmla="*/ 1009650 w 1009650"/>
              <a:gd name="connsiteY3-44" fmla="*/ 557585 h 557585"/>
              <a:gd name="connsiteX4-45" fmla="*/ 968868 w 1009650"/>
              <a:gd name="connsiteY4-46" fmla="*/ 294529 h 557585"/>
              <a:gd name="connsiteX5-47" fmla="*/ 238574 w 1009650"/>
              <a:gd name="connsiteY5-48" fmla="*/ 0 h 557585"/>
              <a:gd name="connsiteX0-49" fmla="*/ 238574 w 968868"/>
              <a:gd name="connsiteY0-50" fmla="*/ 0 h 558988"/>
              <a:gd name="connsiteX1-51" fmla="*/ 0 w 968868"/>
              <a:gd name="connsiteY1-52" fmla="*/ 240085 h 558988"/>
              <a:gd name="connsiteX2-53" fmla="*/ 317500 w 968868"/>
              <a:gd name="connsiteY2-54" fmla="*/ 557585 h 558988"/>
              <a:gd name="connsiteX3-55" fmla="*/ 801696 w 968868"/>
              <a:gd name="connsiteY3-56" fmla="*/ 558988 h 558988"/>
              <a:gd name="connsiteX4-57" fmla="*/ 968868 w 968868"/>
              <a:gd name="connsiteY4-58" fmla="*/ 294529 h 558988"/>
              <a:gd name="connsiteX5-59" fmla="*/ 238574 w 968868"/>
              <a:gd name="connsiteY5-60" fmla="*/ 0 h 558988"/>
              <a:gd name="connsiteX0-61" fmla="*/ 240640 w 968868"/>
              <a:gd name="connsiteY0-62" fmla="*/ 0 h 562230"/>
              <a:gd name="connsiteX1-63" fmla="*/ 0 w 968868"/>
              <a:gd name="connsiteY1-64" fmla="*/ 243327 h 562230"/>
              <a:gd name="connsiteX2-65" fmla="*/ 317500 w 968868"/>
              <a:gd name="connsiteY2-66" fmla="*/ 560827 h 562230"/>
              <a:gd name="connsiteX3-67" fmla="*/ 801696 w 968868"/>
              <a:gd name="connsiteY3-68" fmla="*/ 562230 h 562230"/>
              <a:gd name="connsiteX4-69" fmla="*/ 968868 w 968868"/>
              <a:gd name="connsiteY4-70" fmla="*/ 297771 h 562230"/>
              <a:gd name="connsiteX5-71" fmla="*/ 240640 w 968868"/>
              <a:gd name="connsiteY5-72" fmla="*/ 0 h 5622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68868" h="562230">
                <a:moveTo>
                  <a:pt x="240640" y="0"/>
                </a:moveTo>
                <a:lnTo>
                  <a:pt x="0" y="243327"/>
                </a:lnTo>
                <a:lnTo>
                  <a:pt x="317500" y="560827"/>
                </a:lnTo>
                <a:lnTo>
                  <a:pt x="801696" y="562230"/>
                </a:lnTo>
                <a:lnTo>
                  <a:pt x="968868" y="297771"/>
                </a:lnTo>
                <a:lnTo>
                  <a:pt x="24064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0" y="6681576"/>
            <a:ext cx="12192000" cy="1753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www.fiberhome.com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1758224" y="6542530"/>
            <a:ext cx="10433776" cy="100800"/>
          </a:xfrm>
          <a:prstGeom prst="rect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3" y="6432489"/>
            <a:ext cx="1592194" cy="329213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 flipH="1">
            <a:off x="8109857" y="6761702"/>
            <a:ext cx="24514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等腰三角形 35"/>
          <p:cNvSpPr/>
          <p:nvPr userDrawn="1"/>
        </p:nvSpPr>
        <p:spPr>
          <a:xfrm rot="5400000">
            <a:off x="-13909" y="6467220"/>
            <a:ext cx="201682" cy="173864"/>
          </a:xfrm>
          <a:prstGeom prst="triangle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 userDrawn="1"/>
        </p:nvSpPr>
        <p:spPr>
          <a:xfrm>
            <a:off x="37542" y="0"/>
            <a:ext cx="131302" cy="5515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 userDrawn="1"/>
        </p:nvSpPr>
        <p:spPr>
          <a:xfrm>
            <a:off x="161413" y="0"/>
            <a:ext cx="73997" cy="62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 preferRelativeResize="0"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785" y="67638"/>
            <a:ext cx="1515715" cy="7812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>
          <a:xfrm>
            <a:off x="876880" y="1716563"/>
            <a:ext cx="10515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EAB8DB-94E9-4BAC-AC0A-0BDED11D82F9}" type="datetimeFigureOut">
              <a:rPr lang="zh-CN" altLang="en-US"/>
              <a:t>2025/11/2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6B749-F398-4A0E-8FC8-7662562542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779835" y="1685925"/>
            <a:ext cx="4513262" cy="3910013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6327775" y="2717800"/>
            <a:ext cx="5026025" cy="287813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/>
          </p:nvPr>
        </p:nvSpPr>
        <p:spPr>
          <a:xfrm>
            <a:off x="6327775" y="1685925"/>
            <a:ext cx="5026025" cy="51593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818900-26F5-49F5-9D46-8CDDC5A6EF3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7"/>
          <p:cNvSpPr/>
          <p:nvPr/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/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/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/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/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/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/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/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/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DC5E6B-4175-4FFB-B5AE-4E123AB7D8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横排四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8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9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0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1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2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9520238" y="3194050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lt"/>
            </a:endParaRPr>
          </a:p>
        </p:txBody>
      </p:sp>
      <p:sp>
        <p:nvSpPr>
          <p:cNvPr id="24" name="椭圆 23"/>
          <p:cNvSpPr/>
          <p:nvPr>
            <p:custDataLst>
              <p:tags r:id="rId8"/>
            </p:custDataLst>
          </p:nvPr>
        </p:nvSpPr>
        <p:spPr>
          <a:xfrm>
            <a:off x="2160588" y="3157538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lt"/>
            </a:endParaRPr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785938" y="1727200"/>
            <a:ext cx="8610600" cy="59213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5"/>
          </p:nvPr>
        </p:nvSpPr>
        <p:spPr>
          <a:xfrm>
            <a:off x="1373135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49" name="图片占位符 47"/>
          <p:cNvSpPr>
            <a:spLocks noGrp="1"/>
          </p:cNvSpPr>
          <p:nvPr>
            <p:ph type="pic" sz="quarter" idx="16"/>
          </p:nvPr>
        </p:nvSpPr>
        <p:spPr>
          <a:xfrm>
            <a:off x="37967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0" name="图片占位符 47"/>
          <p:cNvSpPr>
            <a:spLocks noGrp="1"/>
          </p:cNvSpPr>
          <p:nvPr>
            <p:ph type="pic" sz="quarter" idx="17"/>
          </p:nvPr>
        </p:nvSpPr>
        <p:spPr>
          <a:xfrm>
            <a:off x="62156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1" name="图片占位符 47"/>
          <p:cNvSpPr>
            <a:spLocks noGrp="1"/>
          </p:cNvSpPr>
          <p:nvPr>
            <p:ph type="pic" sz="quarter" idx="18"/>
          </p:nvPr>
        </p:nvSpPr>
        <p:spPr>
          <a:xfrm>
            <a:off x="86345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9"/>
          </p:nvPr>
        </p:nvSpPr>
        <p:spPr>
          <a:xfrm>
            <a:off x="1295082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4" name="文本占位符 52"/>
          <p:cNvSpPr>
            <a:spLocks noGrp="1"/>
          </p:cNvSpPr>
          <p:nvPr>
            <p:ph type="body" sz="quarter" idx="20"/>
          </p:nvPr>
        </p:nvSpPr>
        <p:spPr>
          <a:xfrm>
            <a:off x="37203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5" name="文本占位符 52"/>
          <p:cNvSpPr>
            <a:spLocks noGrp="1"/>
          </p:cNvSpPr>
          <p:nvPr>
            <p:ph type="body" sz="quarter" idx="21"/>
          </p:nvPr>
        </p:nvSpPr>
        <p:spPr>
          <a:xfrm>
            <a:off x="61392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6" name="文本占位符 52"/>
          <p:cNvSpPr>
            <a:spLocks noGrp="1"/>
          </p:cNvSpPr>
          <p:nvPr>
            <p:ph type="body" sz="quarter" idx="22"/>
          </p:nvPr>
        </p:nvSpPr>
        <p:spPr>
          <a:xfrm>
            <a:off x="85581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23"/>
          </p:nvPr>
        </p:nvSpPr>
        <p:spPr>
          <a:xfrm>
            <a:off x="1295081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9" name="文本占位符 57"/>
          <p:cNvSpPr>
            <a:spLocks noGrp="1"/>
          </p:cNvSpPr>
          <p:nvPr>
            <p:ph type="body" sz="quarter" idx="24"/>
          </p:nvPr>
        </p:nvSpPr>
        <p:spPr>
          <a:xfrm>
            <a:off x="37203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60" name="文本占位符 57"/>
          <p:cNvSpPr>
            <a:spLocks noGrp="1"/>
          </p:cNvSpPr>
          <p:nvPr>
            <p:ph type="body" sz="quarter" idx="25"/>
          </p:nvPr>
        </p:nvSpPr>
        <p:spPr>
          <a:xfrm>
            <a:off x="61392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61" name="文本占位符 57"/>
          <p:cNvSpPr>
            <a:spLocks noGrp="1"/>
          </p:cNvSpPr>
          <p:nvPr>
            <p:ph type="body" sz="quarter" idx="26"/>
          </p:nvPr>
        </p:nvSpPr>
        <p:spPr>
          <a:xfrm>
            <a:off x="8558105" y="5045075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F15CD5-A897-44BC-96B1-EA1DFA2014A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8A55B5-DAAD-4B42-B2A7-EC7A443BCF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"/>
          <p:cNvSpPr/>
          <p:nvPr/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4" name="椭圆 3"/>
          <p:cNvSpPr/>
          <p:nvPr/>
        </p:nvSpPr>
        <p:spPr>
          <a:xfrm>
            <a:off x="1357313" y="1363663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5" name="任意多边形: 形状 7"/>
          <p:cNvSpPr/>
          <p:nvPr/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6" name="任意多边形: 形状 8"/>
          <p:cNvSpPr/>
          <p:nvPr/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7" name="任意多边形: 形状 9"/>
          <p:cNvSpPr/>
          <p:nvPr/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8" name="任意多边形: 形状 10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9" name="KSO_Shape"/>
          <p:cNvSpPr/>
          <p:nvPr/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/>
        </p:nvSpPr>
        <p:spPr>
          <a:xfrm rot="10154805">
            <a:off x="8661400" y="2400300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/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/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7925" y="2592718"/>
            <a:ext cx="7296150" cy="1442383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accent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9D602DD-68A8-41A2-B35E-86A5C6EDDC1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4" name="日期占位符 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页脚占位符 7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灯片编号占位符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B64651-DA25-460D-BF03-D6AB3999D7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EFE7A2-A409-40F1-B0DC-05379ABA812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5683DD-9769-49BF-AEB4-9453FFE637D3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5683DD-9769-49BF-AEB4-9453FFE637D3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B54FE-17D8-4201-A2BE-3C569D776F8B}" type="datetimeFigureOut">
              <a:rPr lang="zh-CN" altLang="en-US"/>
              <a:t>2025/11/2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90F85-A340-4407-97EC-3849D2553C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83DD-9769-49BF-AEB4-9453FFE637D3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44500" y="1775012"/>
            <a:ext cx="11355917" cy="4424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6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7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lnSpc>
                <a:spcPct val="120000"/>
              </a:lnSpc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705683DD-9769-49BF-AEB4-9453FFE637D3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lnSpc>
                <a:spcPct val="120000"/>
              </a:lnSpc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lnSpc>
                <a:spcPct val="120000"/>
              </a:lnSpc>
              <a:buFontTx/>
              <a:buNone/>
              <a:defRPr sz="1200" noProof="1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 userDrawn="1"/>
        </p:nvSpPr>
        <p:spPr>
          <a:xfrm>
            <a:off x="12304991" y="3563599"/>
            <a:ext cx="457015" cy="356501"/>
          </a:xfrm>
          <a:prstGeom prst="rect">
            <a:avLst/>
          </a:prstGeom>
          <a:solidFill>
            <a:srgbClr val="FF66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2303852" y="4548881"/>
            <a:ext cx="458314" cy="35650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303237" y="4056240"/>
            <a:ext cx="459017" cy="356501"/>
          </a:xfrm>
          <a:prstGeom prst="rect">
            <a:avLst/>
          </a:prstGeom>
          <a:solidFill>
            <a:srgbClr val="8E499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303237" y="5041523"/>
            <a:ext cx="459017" cy="356501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302989" y="5534164"/>
            <a:ext cx="459017" cy="356501"/>
          </a:xfrm>
          <a:prstGeom prst="rect">
            <a:avLst/>
          </a:prstGeom>
          <a:solidFill>
            <a:srgbClr val="40404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2302989" y="6026805"/>
            <a:ext cx="459017" cy="356501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2288795" y="6519446"/>
            <a:ext cx="520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参考色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2303083" y="3085246"/>
            <a:ext cx="457015" cy="356501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 kern="1200">
          <a:solidFill>
            <a:srgbClr val="595959"/>
          </a:solidFill>
          <a:latin typeface="黑体" panose="02010609060101010101" charset="-122"/>
          <a:ea typeface="黑体" panose="02010609060101010101" charset="-122"/>
          <a:cs typeface="+mj-cs"/>
        </a:defRPr>
      </a:lvl1pPr>
      <a:lvl2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2pPr>
      <a:lvl3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3pPr>
      <a:lvl4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4pPr>
      <a:lvl5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5pPr>
      <a:lvl6pPr marL="4572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draft-xhy-hpwan-framework/" TargetMode="External"/><Relationship Id="rId2" Type="http://schemas.openxmlformats.org/officeDocument/2006/relationships/hyperlink" Target="https://datatracker.ietf.org/doc/html/draft-kcrh-hpwan-state-of-art-03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516188" y="1748790"/>
            <a:ext cx="630555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>
                <a:latin typeface="Cambria" panose="02040503050406030204" charset="0"/>
                <a:cs typeface="Cambria" panose="02040503050406030204" charset="0"/>
              </a:rPr>
              <a:t>HP-WAN Documents Updates</a:t>
            </a:r>
          </a:p>
          <a:p>
            <a:pPr algn="ctr"/>
            <a:r>
              <a:rPr lang="en-US" altLang="zh-CN" sz="2800" b="1">
                <a:latin typeface="Cambria" panose="02040503050406030204" charset="0"/>
                <a:cs typeface="Cambria" panose="02040503050406030204" charset="0"/>
              </a:rPr>
              <a:t> (State-Of-Art I-D and Framework I-D)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61910" y="3572510"/>
            <a:ext cx="37045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Quan Xiong, </a:t>
            </a:r>
          </a:p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ZTE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77210" y="5211244"/>
            <a:ext cx="9144000" cy="121774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IETF 124 @</a:t>
            </a:r>
            <a:r>
              <a:rPr lang="zh-CN" altLang="en-US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 </a:t>
            </a: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Montreal HP-WAN Side meeting</a:t>
            </a:r>
          </a:p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November, 2025</a:t>
            </a:r>
            <a:endParaRPr lang="zh-CN" altLang="en-US" sz="2000" dirty="0">
              <a:latin typeface="Calibri Light" panose="020F0302020204030204" charset="0"/>
              <a:ea typeface="思源黑体 CN Light" panose="020B03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599B-9F2F-2258-1BD8-B09454A0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charset="0"/>
                <a:ea typeface="微软雅黑"/>
                <a:cs typeface="Cambria" panose="02040503050406030204" charset="0"/>
                <a:sym typeface="+mn-ea"/>
              </a:rPr>
              <a:t>HP-WAN Quick Reminder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2AEDC190-C0EB-F003-9D89-300442EE3870}"/>
              </a:ext>
            </a:extLst>
          </p:cNvPr>
          <p:cNvSpPr txBox="1"/>
          <p:nvPr/>
        </p:nvSpPr>
        <p:spPr>
          <a:xfrm>
            <a:off x="861695" y="1377950"/>
            <a:ext cx="1082548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Scope: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NRENs and large dedicated backbones supporting data-intensive science, distributed AI training, and HPC. Examples: GÉANT, ESnet, Janet, Internet2, CANARIE, CERNET.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Problem: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Multi-petabyte data movement across distance needs high bandwidth, low latency, high reliability, and secure end-to-end design from campus to backbone (e.g., Science DMZ).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Key components: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Distributed architectural elements, topology choices, bandwidth and latency engineering, localised data movement, forwarding optimisation, reliability/HA.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Data movement enablers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: 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Scheduled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low-latency 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hard guarantees, QoS, congestion control, performance monitoring, scalability. 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053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5E90-A007-9979-42FB-BE8C43E5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08DB-7584-1B08-6BBB-0799970A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charset="0"/>
                <a:ea typeface="微软雅黑"/>
                <a:cs typeface="Cambria" panose="02040503050406030204" charset="0"/>
                <a:sym typeface="+mn-ea"/>
              </a:rPr>
              <a:t>Two Important 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charset="0"/>
                <a:ea typeface="微软雅黑"/>
                <a:cs typeface="Cambria" panose="02040503050406030204" charset="0"/>
                <a:sym typeface="+mn-ea"/>
              </a:rPr>
              <a:t>Docum</a:t>
            </a:r>
            <a:r>
              <a:rPr lang="en-US" altLang="zh-CN" sz="3600" dirty="0">
                <a:solidFill>
                  <a:srgbClr val="000000"/>
                </a:solidFill>
                <a:latin typeface="Cambria" panose="02040503050406030204" charset="0"/>
                <a:ea typeface="微软雅黑"/>
                <a:cs typeface="Cambria" panose="02040503050406030204" charset="0"/>
                <a:sym typeface="+mn-ea"/>
              </a:rPr>
              <a:t>ents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charset="0"/>
              <a:ea typeface="微软雅黑"/>
              <a:cs typeface="Cambria" panose="02040503050406030204" charset="0"/>
              <a:sym typeface="+mn-ea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8F8A85-7AD9-D9D8-C1C2-3E4B439C1BA8}"/>
              </a:ext>
            </a:extLst>
          </p:cNvPr>
          <p:cNvSpPr txBox="1"/>
          <p:nvPr/>
        </p:nvSpPr>
        <p:spPr>
          <a:xfrm>
            <a:off x="861695" y="1377950"/>
            <a:ext cx="1082548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“Current State of the Art for High Performance Wide </a:t>
            </a:r>
            <a:r>
              <a:rPr lang="en-GB" altLang="zh-CN" sz="2400" b="1" dirty="0">
                <a:latin typeface="Cambria" panose="02040503050406030204" charset="0"/>
                <a:cs typeface="Cambria" panose="02040503050406030204" charset="0"/>
                <a:sym typeface="+mn-ea"/>
              </a:rPr>
              <a:t>Area Networks”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charset="0"/>
              </a:rPr>
              <a:t>This document provides an overview of the terminology and techniques used for existing HP-WANs. It also explores the technological advancements, operational tools, and future directions for HP-WANs, emphasising their role in enabling cutting-edge scientific research, AI training and massive R&amp;E data analysis</a:t>
            </a:r>
            <a:r>
              <a:rPr lang="en-GB" sz="2400" dirty="0">
                <a:latin typeface="Cambria" panose="02040503050406030204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sz="2000" dirty="0">
                <a:latin typeface="Cambria" panose="02040503050406030204" charset="0"/>
                <a:cs typeface="Cambria" panose="02040503050406030204" charset="0"/>
                <a:sym typeface="+mn-ea"/>
                <a:hlinkClick r:id="rId2"/>
              </a:rPr>
              <a:t>https://datatracker.ietf.org/doc/html/draft-kcrh-hpwan-state-of-art-03</a:t>
            </a:r>
            <a:endParaRPr lang="en-GB" altLang="zh-CN" sz="20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altLang="zh-CN" sz="2000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b="1" dirty="0">
                <a:latin typeface="Cambria" panose="02040503050406030204" charset="0"/>
                <a:cs typeface="Cambria" panose="02040503050406030204" charset="0"/>
                <a:sym typeface="+mn-ea"/>
              </a:rPr>
              <a:t>Framework for High Performance Wide Area Network (HP-WAN)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sz="2000" dirty="0">
                <a:latin typeface="Cambria" panose="02040503050406030204" charset="0"/>
                <a:sym typeface="+mn-ea"/>
              </a:rPr>
              <a:t>This document defines a framework to enable the host-network    collaboration for high-speed and high-throughput data transmission,    coupled with fast completion time and low latency of High Performance    Wide Area Networks (HP-WAN).  It focuses on key congestion control functions to facilitate host-to-network collaboration and perform rate negotiation, such as QoS policy, admission control, and traffic scheduling.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sz="2000" dirty="0">
                <a:latin typeface="Cambria" panose="02040503050406030204" charset="0"/>
                <a:sym typeface="+mn-ea"/>
                <a:hlinkClick r:id="rId3"/>
              </a:rPr>
              <a:t>https://datatracker.ietf.org/doc/draft-xhy-hpwan-framework/</a:t>
            </a:r>
            <a:endParaRPr lang="en-GB" altLang="zh-CN" sz="2000" dirty="0">
              <a:latin typeface="Cambria" panose="0204050305040603020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altLang="zh-CN" sz="2000" dirty="0">
              <a:latin typeface="Cambria" panose="0204050305040603020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368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71522" y="247015"/>
            <a:ext cx="8688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Cambria" panose="02040503050406030204" charset="0"/>
                <a:cs typeface="Cambria" panose="02040503050406030204" charset="0"/>
                <a:sym typeface="+mn-ea"/>
              </a:rPr>
              <a:t>“State of Art” Updates from Last Meeting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1695" y="1377950"/>
            <a:ext cx="1082548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Updates draft-kcrh-hpwan-state-of-art from v-02 to v-03: 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Improved readability with updates to key sections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Focus on NREN R&amp;E applications within the document, removing industrial examples. 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Clarifying architectural elements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Inclusion of NREN/R&amp;E examples from China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Further discussion on emerging topics, resources, and network control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Inclusion 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of a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dditional references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Next Steps: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We *think* the document is complete now.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 few deep reviews would be very welcome.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097531" y="247015"/>
            <a:ext cx="9036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Cambria" panose="02040503050406030204" charset="0"/>
                <a:cs typeface="Cambria" panose="02040503050406030204" charset="0"/>
                <a:sym typeface="+mn-ea"/>
              </a:rPr>
              <a:t>“Framework” Updates from Last Meeting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1695" y="1377950"/>
            <a:ext cx="1082548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Updates draft-xhy-hpwan-framework from v-02 to v-03: 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adding the centralized approach for HP-WAN such as the implementation in SENSE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adding some clarifications for the congestions for slow flow and rate fluctuations due to blind competition among multiple flows 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adding security considerations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Next Steps: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HP-WAN mechanisms mentioned in this framework will be implemented and simulated in Hackathon.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We appreciate more contributions and feedbacks.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8105"/>
            <a:ext cx="10515600" cy="1325563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Host-network Collaboration in Distributed Signaling</a:t>
            </a:r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838200" y="1238250"/>
            <a:ext cx="10925810" cy="5283835"/>
          </a:xfrm>
        </p:spPr>
        <p:txBody>
          <a:bodyPr>
            <a:normAutofit/>
          </a:bodyPr>
          <a:lstStyle/>
          <a:p>
            <a:pPr lvl="0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Cambria" panose="02040503050406030204" charset="0"/>
                <a:cs typeface="Cambria" panose="02040503050406030204" charset="0"/>
              </a:rPr>
              <a:t>The host-network </a:t>
            </a:r>
            <a:r>
              <a:rPr lang="en-US" altLang="zh-CN" sz="240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collaboration signaling is enabled to enhance the congestion control</a:t>
            </a:r>
            <a:r>
              <a:rPr lang="en-US" altLang="zh-CN" sz="2400">
                <a:latin typeface="Cambria" panose="02040503050406030204" charset="0"/>
                <a:cs typeface="Cambria" panose="02040503050406030204" charset="0"/>
              </a:rPr>
              <a:t> in HP-WAN.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</a:rPr>
              <a:t>  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Cambria" panose="02040503050406030204" charset="0"/>
                <a:cs typeface="Cambria" panose="02040503050406030204" charset="0"/>
              </a:rPr>
              <a:t>The client and server could send the traffic efficiently </a:t>
            </a:r>
            <a:r>
              <a:rPr lang="en-US" altLang="zh-CN" sz="2000" u="sng">
                <a:latin typeface="Cambria" panose="02040503050406030204" charset="0"/>
                <a:cs typeface="Cambria" panose="02040503050406030204" charset="0"/>
              </a:rPr>
              <a:t>with the negotiated rate- based congestion control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</a:rPr>
              <a:t> in a fine-grained way. 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Cambria" panose="02040503050406030204" charset="0"/>
                <a:cs typeface="Cambria" panose="02040503050406030204" charset="0"/>
              </a:rPr>
              <a:t>The network could 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provide</a:t>
            </a:r>
            <a:r>
              <a:rPr lang="en-US" altLang="zh-CN" sz="2000" u="sng">
                <a:latin typeface="Cambria" panose="02040503050406030204" charset="0"/>
                <a:cs typeface="Cambria" panose="02040503050406030204" charset="0"/>
                <a:sym typeface="+mn-ea"/>
              </a:rPr>
              <a:t> rate-based quota reservation and admission control 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to achieve predictable network behaviour.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The edge node could enhance the capability to </a:t>
            </a:r>
            <a:r>
              <a:rPr lang="en-US" altLang="zh-CN" sz="2000" u="sng">
                <a:latin typeface="Cambria" panose="02040503050406030204" charset="0"/>
                <a:cs typeface="Cambria" panose="02040503050406030204" charset="0"/>
                <a:sym typeface="+mn-ea"/>
              </a:rPr>
              <a:t>provide traffic scheduling and enforcement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 to mitigate incast network congestion and 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minimize flow completion times</a:t>
            </a:r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. </a:t>
            </a:r>
            <a:endParaRPr lang="en-US" altLang="zh-CN" sz="2000">
              <a:latin typeface="Cambria" panose="02040503050406030204" charset="0"/>
              <a:cs typeface="Cambria" panose="020405030504060302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81150" y="3893820"/>
            <a:ext cx="8931275" cy="2582545"/>
            <a:chOff x="2490" y="6058"/>
            <a:chExt cx="12236" cy="4021"/>
          </a:xfrm>
        </p:grpSpPr>
        <p:grpSp>
          <p:nvGrpSpPr>
            <p:cNvPr id="7" name="组合 6"/>
            <p:cNvGrpSpPr/>
            <p:nvPr/>
          </p:nvGrpSpPr>
          <p:grpSpPr>
            <a:xfrm>
              <a:off x="2490" y="6103"/>
              <a:ext cx="12236" cy="3506"/>
              <a:chOff x="232" y="2791"/>
              <a:chExt cx="16314" cy="467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232" y="2791"/>
                <a:ext cx="16314" cy="4674"/>
                <a:chOff x="232" y="2808"/>
                <a:chExt cx="16314" cy="4674"/>
              </a:xfrm>
            </p:grpSpPr>
            <p:sp>
              <p:nvSpPr>
                <p:cNvPr id="139" name="任意多边形 138"/>
                <p:cNvSpPr/>
                <p:nvPr/>
              </p:nvSpPr>
              <p:spPr>
                <a:xfrm>
                  <a:off x="2900" y="5631"/>
                  <a:ext cx="9372" cy="970"/>
                </a:xfrm>
                <a:custGeom>
                  <a:avLst/>
                  <a:gdLst>
                    <a:gd name="connisteX0" fmla="*/ 0 w 5257165"/>
                    <a:gd name="connsiteY0" fmla="*/ 1017344 h 1017344"/>
                    <a:gd name="connisteX1" fmla="*/ 1240155 w 5257165"/>
                    <a:gd name="connsiteY1" fmla="*/ 96594 h 1017344"/>
                    <a:gd name="connisteX2" fmla="*/ 5257165 w 5257165"/>
                    <a:gd name="connsiteY2" fmla="*/ 66114 h 1017344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</a:cxnLst>
                  <a:rect l="l" t="t" r="r" b="b"/>
                  <a:pathLst>
                    <a:path w="5257165" h="1017344">
                      <a:moveTo>
                        <a:pt x="0" y="1017344"/>
                      </a:moveTo>
                      <a:cubicBezTo>
                        <a:pt x="167640" y="833829"/>
                        <a:pt x="188595" y="287094"/>
                        <a:pt x="1240155" y="96594"/>
                      </a:cubicBezTo>
                      <a:cubicBezTo>
                        <a:pt x="2291715" y="-93906"/>
                        <a:pt x="4478655" y="54049"/>
                        <a:pt x="5257165" y="66114"/>
                      </a:cubicBezTo>
                    </a:path>
                  </a:pathLst>
                </a:custGeom>
                <a:noFill/>
                <a:ln w="28575" cap="flat" cmpd="dbl" algn="ctr">
                  <a:solidFill>
                    <a:schemeClr val="accent1">
                      <a:shade val="50000"/>
                    </a:schemeClr>
                  </a:solidFill>
                  <a:prstDash val="sysDash"/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68580" tIns="34290" rIns="68580" bIns="34290" numCol="1" anchor="t" anchorCtr="0" compatLnSpc="1">
                  <a:noAutofit/>
                </a:bodyPr>
                <a:lstStyle/>
                <a:p>
                  <a:pPr lvl="0" algn="l">
                    <a:buClrTx/>
                    <a:buSzTx/>
                  </a:pPr>
                  <a:endParaRPr lang="zh-CN" altLang="en-US" sz="1350">
                    <a:ln>
                      <a:noFill/>
                    </a:ln>
                    <a:effectLst/>
                    <a:cs typeface="Arial" panose="020B0604020202020204" pitchFamily="34" charset="0"/>
                    <a:sym typeface="+mn-ea"/>
                  </a:endParaRPr>
                </a:p>
              </p:txBody>
            </p:sp>
            <p:grpSp>
              <p:nvGrpSpPr>
                <p:cNvPr id="14" name="组合 13"/>
                <p:cNvGrpSpPr/>
                <p:nvPr/>
              </p:nvGrpSpPr>
              <p:grpSpPr>
                <a:xfrm>
                  <a:off x="408" y="2808"/>
                  <a:ext cx="16138" cy="4310"/>
                  <a:chOff x="1294" y="5477"/>
                  <a:chExt cx="17433" cy="4819"/>
                </a:xfrm>
              </p:grpSpPr>
              <p:sp>
                <p:nvSpPr>
                  <p:cNvPr id="35" name="矩形 34"/>
                  <p:cNvSpPr/>
                  <p:nvPr/>
                </p:nvSpPr>
                <p:spPr>
                  <a:xfrm>
                    <a:off x="1308" y="7878"/>
                    <a:ext cx="3066" cy="1040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矩形 47"/>
                  <p:cNvSpPr/>
                  <p:nvPr/>
                </p:nvSpPr>
                <p:spPr>
                  <a:xfrm>
                    <a:off x="14337" y="7860"/>
                    <a:ext cx="3066" cy="1198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675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" name="文本框 62"/>
                  <p:cNvSpPr txBox="1"/>
                  <p:nvPr/>
                </p:nvSpPr>
                <p:spPr>
                  <a:xfrm>
                    <a:off x="15099" y="8518"/>
                    <a:ext cx="362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65" name="云形 64"/>
                  <p:cNvSpPr/>
                  <p:nvPr/>
                </p:nvSpPr>
                <p:spPr>
                  <a:xfrm>
                    <a:off x="6413" y="7056"/>
                    <a:ext cx="6087" cy="3084"/>
                  </a:xfrm>
                  <a:prstGeom prst="cloud">
                    <a:avLst/>
                  </a:prstGeom>
                  <a:noFill/>
                  <a:ln>
                    <a:solidFill>
                      <a:srgbClr val="00B050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35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任意多边形 80"/>
                  <p:cNvSpPr/>
                  <p:nvPr/>
                </p:nvSpPr>
                <p:spPr>
                  <a:xfrm>
                    <a:off x="4077" y="6415"/>
                    <a:ext cx="10131" cy="1986"/>
                  </a:xfrm>
                  <a:custGeom>
                    <a:avLst/>
                    <a:gdLst>
                      <a:gd name="connisteX0" fmla="*/ 0 w 5195570"/>
                      <a:gd name="connsiteY0" fmla="*/ 0 h 1344111"/>
                      <a:gd name="connisteX1" fmla="*/ 1019175 w 5195570"/>
                      <a:gd name="connsiteY1" fmla="*/ 1217295 h 1344111"/>
                      <a:gd name="connisteX2" fmla="*/ 5195570 w 5195570"/>
                      <a:gd name="connsiteY2" fmla="*/ 1293495 h 1344111"/>
                      <a:gd name="connisteX3" fmla="*/ 5294630 w 5195570"/>
                      <a:gd name="connsiteY3" fmla="*/ 1423035 h 1344111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  <a:cxn ang="0">
                        <a:pos x="connisteX3" y="connsiteY3"/>
                      </a:cxn>
                    </a:cxnLst>
                    <a:rect l="l" t="t" r="r" b="b"/>
                    <a:pathLst>
                      <a:path w="5195570" h="1344111">
                        <a:moveTo>
                          <a:pt x="0" y="0"/>
                        </a:moveTo>
                        <a:cubicBezTo>
                          <a:pt x="120015" y="241935"/>
                          <a:pt x="-19685" y="958850"/>
                          <a:pt x="1019175" y="1217295"/>
                        </a:cubicBezTo>
                        <a:cubicBezTo>
                          <a:pt x="2058035" y="1475740"/>
                          <a:pt x="4340225" y="1252220"/>
                          <a:pt x="5195570" y="1293495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35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任意多边形 81"/>
                  <p:cNvSpPr/>
                  <p:nvPr/>
                </p:nvSpPr>
                <p:spPr>
                  <a:xfrm flipV="1">
                    <a:off x="4185" y="8399"/>
                    <a:ext cx="9918" cy="120"/>
                  </a:xfrm>
                  <a:custGeom>
                    <a:avLst/>
                    <a:gdLst>
                      <a:gd name="connisteX0" fmla="*/ 0 w 5264785"/>
                      <a:gd name="connsiteY0" fmla="*/ 4096 h 4096"/>
                      <a:gd name="connisteX1" fmla="*/ 5264785 w 5264785"/>
                      <a:gd name="connsiteY1" fmla="*/ 4096 h 4096"/>
                      <a:gd name="connisteX2" fmla="*/ 5280025 w 5264785"/>
                      <a:gd name="connsiteY2" fmla="*/ 49816 h 4096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</a:cxnLst>
                    <a:rect l="l" t="t" r="r" b="b"/>
                    <a:pathLst>
                      <a:path w="5264785" h="4096">
                        <a:moveTo>
                          <a:pt x="0" y="4096"/>
                        </a:moveTo>
                        <a:cubicBezTo>
                          <a:pt x="1052830" y="3461"/>
                          <a:pt x="4208780" y="-4794"/>
                          <a:pt x="5264785" y="4096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>
                    <a:noAutofit/>
                  </a:bodyPr>
                  <a:lstStyle/>
                  <a:p>
                    <a:pPr lvl="0" algn="l">
                      <a:buClrTx/>
                      <a:buSzTx/>
                    </a:pPr>
                    <a:endParaRPr lang="zh-CN" altLang="en-US" sz="1350">
                      <a:ln>
                        <a:noFill/>
                      </a:ln>
                      <a:effectLst/>
                      <a:cs typeface="Arial" panose="020B0604020202020204" pitchFamily="34" charset="0"/>
                      <a:sym typeface="+mn-ea"/>
                    </a:endParaRPr>
                  </a:p>
                </p:txBody>
              </p:sp>
              <p:sp>
                <p:nvSpPr>
                  <p:cNvPr id="90" name="文本框 89"/>
                  <p:cNvSpPr txBox="1"/>
                  <p:nvPr/>
                </p:nvSpPr>
                <p:spPr>
                  <a:xfrm>
                    <a:off x="14443" y="5477"/>
                    <a:ext cx="2961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050" b="1"/>
                      <a:t>Server</a:t>
                    </a: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>
                    <a:off x="1666" y="7946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25" name="矩形 24"/>
                  <p:cNvSpPr/>
                  <p:nvPr/>
                </p:nvSpPr>
                <p:spPr>
                  <a:xfrm>
                    <a:off x="14624" y="8063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31" name="矩形 30"/>
                  <p:cNvSpPr/>
                  <p:nvPr/>
                </p:nvSpPr>
                <p:spPr>
                  <a:xfrm>
                    <a:off x="1294" y="9256"/>
                    <a:ext cx="3066" cy="1040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1652" y="9323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1294" y="6434"/>
                    <a:ext cx="3066" cy="1048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矩形 36"/>
                  <p:cNvSpPr/>
                  <p:nvPr/>
                </p:nvSpPr>
                <p:spPr>
                  <a:xfrm>
                    <a:off x="1652" y="6502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cxnSp>
                <p:nvCxnSpPr>
                  <p:cNvPr id="45" name="直接箭头连接符 44"/>
                  <p:cNvCxnSpPr/>
                  <p:nvPr/>
                </p:nvCxnSpPr>
                <p:spPr>
                  <a:xfrm flipH="1">
                    <a:off x="4620" y="6242"/>
                    <a:ext cx="9589" cy="0"/>
                  </a:xfrm>
                  <a:prstGeom prst="straightConnector1">
                    <a:avLst/>
                  </a:prstGeom>
                  <a:ln w="12700" cmpd="sng">
                    <a:solidFill>
                      <a:schemeClr val="tx1"/>
                    </a:solidFill>
                    <a:prstDash val="sysDash"/>
                    <a:headEnd type="arrow" w="med" len="med"/>
                    <a:tailEnd type="arrow" w="med" len="med"/>
                  </a:ln>
                </p:spPr>
                <p:style>
                  <a:lnRef idx="3">
                    <a:schemeClr val="accent5"/>
                  </a:lnRef>
                  <a:fillRef idx="0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9" name="文本框 48"/>
                <p:cNvSpPr txBox="1"/>
                <p:nvPr/>
              </p:nvSpPr>
              <p:spPr>
                <a:xfrm>
                  <a:off x="7318" y="2992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b="1"/>
                    <a:t>HP-WAN</a:t>
                  </a:r>
                </a:p>
              </p:txBody>
            </p:sp>
            <p:grpSp>
              <p:nvGrpSpPr>
                <p:cNvPr id="52" name="组合 51"/>
                <p:cNvGrpSpPr/>
                <p:nvPr/>
              </p:nvGrpSpPr>
              <p:grpSpPr>
                <a:xfrm>
                  <a:off x="6252" y="5314"/>
                  <a:ext cx="4219" cy="1402"/>
                  <a:chOff x="6915" y="5671"/>
                  <a:chExt cx="4219" cy="1402"/>
                </a:xfrm>
              </p:grpSpPr>
              <p:sp>
                <p:nvSpPr>
                  <p:cNvPr id="126" name="矩形 125"/>
                  <p:cNvSpPr/>
                  <p:nvPr/>
                </p:nvSpPr>
                <p:spPr>
                  <a:xfrm>
                    <a:off x="7668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7" name="矩形 126"/>
                  <p:cNvSpPr/>
                  <p:nvPr/>
                </p:nvSpPr>
                <p:spPr>
                  <a:xfrm>
                    <a:off x="7747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矩形 127"/>
                  <p:cNvSpPr/>
                  <p:nvPr/>
                </p:nvSpPr>
                <p:spPr>
                  <a:xfrm>
                    <a:off x="7815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椭圆 52"/>
                  <p:cNvSpPr/>
                  <p:nvPr/>
                </p:nvSpPr>
                <p:spPr>
                  <a:xfrm>
                    <a:off x="6915" y="5689"/>
                    <a:ext cx="210" cy="533"/>
                  </a:xfrm>
                  <a:prstGeom prst="ellipse">
                    <a:avLst/>
                  </a:prstGeom>
                  <a:noFill/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>
                    <a:noAutofit/>
                  </a:bodyPr>
                  <a:lstStyle/>
                  <a:p>
                    <a:pPr lvl="0" algn="l" defTabSz="457200" fontAlgn="base">
                      <a:buClrTx/>
                      <a:buSzTx/>
                      <a:buFont typeface="Arial" panose="020B0604020202020204" pitchFamily="34" charset="0"/>
                    </a:pPr>
                    <a:endParaRPr lang="zh-CN" altLang="en-US" sz="1015">
                      <a:ln>
                        <a:noFill/>
                      </a:ln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  <a:sym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54" name="直接连接符 53"/>
                  <p:cNvCxnSpPr>
                    <a:endCxn id="57" idx="2"/>
                  </p:cNvCxnSpPr>
                  <p:nvPr/>
                </p:nvCxnSpPr>
                <p:spPr>
                  <a:xfrm flipV="1">
                    <a:off x="7066" y="6190"/>
                    <a:ext cx="3467" cy="13"/>
                  </a:xfrm>
                  <a:prstGeom prst="line">
                    <a:avLst/>
                  </a:prstGeom>
                  <a:solidFill>
                    <a:srgbClr val="00A651"/>
                  </a:solidFill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" name="直接连接符 54"/>
                  <p:cNvCxnSpPr/>
                  <p:nvPr/>
                </p:nvCxnSpPr>
                <p:spPr>
                  <a:xfrm>
                    <a:off x="7067" y="5671"/>
                    <a:ext cx="3482" cy="11"/>
                  </a:xfrm>
                  <a:prstGeom prst="line">
                    <a:avLst/>
                  </a:prstGeom>
                  <a:solidFill>
                    <a:srgbClr val="00A651"/>
                  </a:solidFill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57" name="弧形 56"/>
                  <p:cNvSpPr/>
                  <p:nvPr/>
                </p:nvSpPr>
                <p:spPr>
                  <a:xfrm>
                    <a:off x="10407" y="5700"/>
                    <a:ext cx="284" cy="492"/>
                  </a:xfrm>
                  <a:prstGeom prst="arc">
                    <a:avLst>
                      <a:gd name="adj1" fmla="val 16200000"/>
                      <a:gd name="adj2" fmla="val 5621483"/>
                    </a:avLst>
                  </a:prstGeom>
                  <a:noFill/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文本框 57"/>
                  <p:cNvSpPr txBox="1"/>
                  <p:nvPr/>
                </p:nvSpPr>
                <p:spPr>
                  <a:xfrm>
                    <a:off x="6915" y="6245"/>
                    <a:ext cx="4219" cy="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altLang="zh-CN" sz="1000">
                        <a:latin typeface="Cambria" panose="02040503050406030204" charset="0"/>
                        <a:cs typeface="Cambria" panose="02040503050406030204" charset="0"/>
                      </a:rPr>
                      <a:t>Rate-based quato reservation and admission control</a:t>
                    </a:r>
                  </a:p>
                </p:txBody>
              </p:sp>
            </p:grpSp>
            <p:sp>
              <p:nvSpPr>
                <p:cNvPr id="59" name="文本框 58"/>
                <p:cNvSpPr txBox="1"/>
                <p:nvPr/>
              </p:nvSpPr>
              <p:spPr>
                <a:xfrm>
                  <a:off x="1086" y="4121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algrithm</a:t>
                  </a:r>
                  <a:endParaRPr lang="zh-CN" altLang="en-US" sz="1050" b="1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985" y="5421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</a:t>
                  </a:r>
                  <a:r>
                    <a:rPr lang="en-US" altLang="zh-CN" sz="1050" b="1">
                      <a:sym typeface="+mn-ea"/>
                    </a:rPr>
                    <a:t>algrithm</a:t>
                  </a:r>
                  <a:endParaRPr lang="zh-CN" altLang="en-US" sz="1050" b="1"/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984" y="6620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</a:t>
                  </a:r>
                  <a:r>
                    <a:rPr lang="en-US" altLang="zh-CN" sz="1050" b="1">
                      <a:sym typeface="+mn-ea"/>
                    </a:rPr>
                    <a:t>algrithm</a:t>
                  </a:r>
                  <a:endParaRPr lang="zh-CN" altLang="en-US" sz="1050" b="1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232" y="3279"/>
                  <a:ext cx="3209" cy="4142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12391" y="3351"/>
                  <a:ext cx="3209" cy="4131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"/>
                </a:p>
              </p:txBody>
            </p:sp>
          </p:grpSp>
          <p:sp>
            <p:nvSpPr>
              <p:cNvPr id="66" name="文本框 65"/>
              <p:cNvSpPr txBox="1"/>
              <p:nvPr/>
            </p:nvSpPr>
            <p:spPr>
              <a:xfrm>
                <a:off x="3266" y="4319"/>
                <a:ext cx="4219" cy="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latin typeface="Cambria" panose="02040503050406030204" charset="0"/>
                    <a:cs typeface="Cambria" panose="02040503050406030204" charset="0"/>
                    <a:sym typeface="+mn-ea"/>
                  </a:rPr>
                  <a:t>Rate negotiation</a:t>
                </a:r>
                <a:endParaRPr lang="en-US" altLang="zh-CN" sz="1000" i="1">
                  <a:latin typeface="Cambria" panose="02040503050406030204" charset="0"/>
                  <a:cs typeface="Cambria" panose="02040503050406030204" charset="0"/>
                  <a:sym typeface="+mn-ea"/>
                </a:endParaRPr>
              </a:p>
            </p:txBody>
          </p:sp>
          <p:cxnSp>
            <p:nvCxnSpPr>
              <p:cNvPr id="67" name="直接箭头连接符 66"/>
              <p:cNvCxnSpPr/>
              <p:nvPr/>
            </p:nvCxnSpPr>
            <p:spPr>
              <a:xfrm>
                <a:off x="3728" y="5230"/>
                <a:ext cx="1313" cy="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/>
              <p:cNvCxnSpPr/>
              <p:nvPr/>
            </p:nvCxnSpPr>
            <p:spPr>
              <a:xfrm>
                <a:off x="3710" y="5463"/>
                <a:ext cx="1351" cy="1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六边形 68"/>
              <p:cNvSpPr/>
              <p:nvPr/>
            </p:nvSpPr>
            <p:spPr>
              <a:xfrm>
                <a:off x="5020" y="5229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Ingress</a:t>
                </a:r>
              </a:p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Edge</a:t>
                </a:r>
              </a:p>
            </p:txBody>
          </p:sp>
          <p:sp>
            <p:nvSpPr>
              <p:cNvPr id="70" name="六边形 69"/>
              <p:cNvSpPr/>
              <p:nvPr/>
            </p:nvSpPr>
            <p:spPr>
              <a:xfrm>
                <a:off x="10145" y="5292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Egress</a:t>
                </a:r>
              </a:p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Edge</a:t>
                </a:r>
              </a:p>
            </p:txBody>
          </p:sp>
          <p:sp>
            <p:nvSpPr>
              <p:cNvPr id="71" name="六边形 70"/>
              <p:cNvSpPr/>
              <p:nvPr/>
            </p:nvSpPr>
            <p:spPr>
              <a:xfrm>
                <a:off x="7441" y="5293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Transit Node</a:t>
                </a:r>
              </a:p>
            </p:txBody>
          </p:sp>
          <p:cxnSp>
            <p:nvCxnSpPr>
              <p:cNvPr id="72" name="直接箭头连接符 71"/>
              <p:cNvCxnSpPr/>
              <p:nvPr/>
            </p:nvCxnSpPr>
            <p:spPr>
              <a:xfrm>
                <a:off x="3748" y="5699"/>
                <a:ext cx="1313" cy="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2704" y="6058"/>
              <a:ext cx="2056" cy="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/>
                <a:t>Client</a:t>
              </a:r>
            </a:p>
          </p:txBody>
        </p:sp>
        <p:sp>
          <p:nvSpPr>
            <p:cNvPr id="15" name="左右箭头 14"/>
            <p:cNvSpPr/>
            <p:nvPr/>
          </p:nvSpPr>
          <p:spPr>
            <a:xfrm>
              <a:off x="4909" y="9231"/>
              <a:ext cx="6680" cy="848"/>
            </a:xfrm>
            <a:prstGeom prst="leftRightArrow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latin typeface="Calibri Light" panose="020F0302020204030204" charset="0"/>
                  <a:cs typeface="Calibri Light" panose="020F0302020204030204" charset="0"/>
                  <a:sym typeface="+mn-ea"/>
                </a:rPr>
                <a:t>Host-network Collaboration Signalling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charset="0"/>
                <a:ea typeface="微软雅黑" panose="020B0503020204020204" pitchFamily="34" charset="-122"/>
                <a:cs typeface="Calibri Light" panose="020F030202020403020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67" y="7546"/>
              <a:ext cx="4595" cy="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000">
                  <a:latin typeface="Cambria" panose="02040503050406030204" charset="0"/>
                  <a:cs typeface="Cambria" panose="02040503050406030204" charset="0"/>
                  <a:sym typeface="+mn-ea"/>
                </a:rPr>
                <a:t>Traffic scheduling and enforcement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57518" y="273685"/>
            <a:ext cx="109359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latin typeface="Cambria" panose="02040503050406030204" charset="0"/>
                <a:cs typeface="Cambria" panose="02040503050406030204" charset="0"/>
                <a:sym typeface="+mn-ea"/>
              </a:rPr>
              <a:t> Host-network Collaboration in Centralized Configuration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7555" y="819150"/>
            <a:ext cx="1090993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Host-and-network collaboration could also be performed using configuration in centralized model where </a:t>
            </a:r>
            <a:r>
              <a:rPr lang="en-US" altLang="zh-CN" sz="20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 controller or an orchestrator orchestrates data processing and resource allocation </a:t>
            </a:r>
            <a:r>
              <a:rPr lang="en-US" altLang="zh-CN" sz="20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across hosts and network infrastructure.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request of scheduled traffic will be initialed 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the Orchestrator.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Orchestrator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perform rate negotiation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among hosts and networks.  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controller of the network 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perform admission control and acknowledge the traffic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Acknowledgement will be configured to the client, including the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response with the negotiated rate and QoS policy 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for the client to send traffic.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Controller of the network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reserve resource quota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guarantee the job's completion time.</a:t>
            </a:r>
          </a:p>
        </p:txBody>
      </p:sp>
      <p:grpSp>
        <p:nvGrpSpPr>
          <p:cNvPr id="94" name="组合 93"/>
          <p:cNvGrpSpPr/>
          <p:nvPr/>
        </p:nvGrpSpPr>
        <p:grpSpPr>
          <a:xfrm>
            <a:off x="1663065" y="3288030"/>
            <a:ext cx="8931275" cy="3511550"/>
            <a:chOff x="2068" y="4817"/>
            <a:chExt cx="14065" cy="5530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064" y="8699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2068" y="6755"/>
              <a:ext cx="14065" cy="3592"/>
              <a:chOff x="2490" y="6058"/>
              <a:chExt cx="12236" cy="355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2490" y="6103"/>
                <a:ext cx="12236" cy="3506"/>
                <a:chOff x="232" y="2791"/>
                <a:chExt cx="16314" cy="4674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232" y="2791"/>
                  <a:ext cx="16314" cy="4674"/>
                  <a:chOff x="232" y="2808"/>
                  <a:chExt cx="16314" cy="4674"/>
                </a:xfrm>
              </p:grpSpPr>
              <p:sp>
                <p:nvSpPr>
                  <p:cNvPr id="20" name="任意多边形 19"/>
                  <p:cNvSpPr/>
                  <p:nvPr/>
                </p:nvSpPr>
                <p:spPr>
                  <a:xfrm>
                    <a:off x="2900" y="5631"/>
                    <a:ext cx="9372" cy="970"/>
                  </a:xfrm>
                  <a:custGeom>
                    <a:avLst/>
                    <a:gdLst>
                      <a:gd name="connisteX0" fmla="*/ 0 w 5257165"/>
                      <a:gd name="connsiteY0" fmla="*/ 1017344 h 1017344"/>
                      <a:gd name="connisteX1" fmla="*/ 1240155 w 5257165"/>
                      <a:gd name="connsiteY1" fmla="*/ 96594 h 1017344"/>
                      <a:gd name="connisteX2" fmla="*/ 5257165 w 5257165"/>
                      <a:gd name="connsiteY2" fmla="*/ 66114 h 1017344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</a:cxnLst>
                    <a:rect l="l" t="t" r="r" b="b"/>
                    <a:pathLst>
                      <a:path w="5257165" h="1017344">
                        <a:moveTo>
                          <a:pt x="0" y="1017344"/>
                        </a:moveTo>
                        <a:cubicBezTo>
                          <a:pt x="167640" y="833829"/>
                          <a:pt x="188595" y="287094"/>
                          <a:pt x="1240155" y="96594"/>
                        </a:cubicBezTo>
                        <a:cubicBezTo>
                          <a:pt x="2291715" y="-93906"/>
                          <a:pt x="4478655" y="54049"/>
                          <a:pt x="5257165" y="66114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>
                    <a:noAutofit/>
                  </a:bodyPr>
                  <a:lstStyle/>
                  <a:p>
                    <a:pPr lvl="0" algn="l">
                      <a:buClrTx/>
                      <a:buSzTx/>
                    </a:pPr>
                    <a:endParaRPr lang="zh-CN" altLang="en-US" sz="1350">
                      <a:ln>
                        <a:noFill/>
                      </a:ln>
                      <a:effectLst/>
                      <a:cs typeface="Arial" panose="020B0604020202020204" pitchFamily="34" charset="0"/>
                      <a:sym typeface="+mn-ea"/>
                    </a:endParaRPr>
                  </a:p>
                </p:txBody>
              </p:sp>
              <p:grpSp>
                <p:nvGrpSpPr>
                  <p:cNvPr id="21" name="组合 20"/>
                  <p:cNvGrpSpPr/>
                  <p:nvPr/>
                </p:nvGrpSpPr>
                <p:grpSpPr>
                  <a:xfrm>
                    <a:off x="408" y="2808"/>
                    <a:ext cx="16138" cy="4310"/>
                    <a:chOff x="1294" y="5477"/>
                    <a:chExt cx="17433" cy="4819"/>
                  </a:xfrm>
                </p:grpSpPr>
                <p:sp>
                  <p:nvSpPr>
                    <p:cNvPr id="22" name="矩形 21"/>
                    <p:cNvSpPr/>
                    <p:nvPr/>
                  </p:nvSpPr>
                  <p:spPr>
                    <a:xfrm>
                      <a:off x="1308" y="7878"/>
                      <a:ext cx="3066" cy="1040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" name="矩形 24"/>
                    <p:cNvSpPr/>
                    <p:nvPr/>
                  </p:nvSpPr>
                  <p:spPr>
                    <a:xfrm>
                      <a:off x="14337" y="7860"/>
                      <a:ext cx="3066" cy="1198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675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3" name="文本框 62"/>
                    <p:cNvSpPr txBox="1"/>
                    <p:nvPr/>
                  </p:nvSpPr>
                  <p:spPr>
                    <a:xfrm>
                      <a:off x="15099" y="8518"/>
                      <a:ext cx="3628" cy="5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050" b="1"/>
                        <a:t>CC </a:t>
                      </a:r>
                      <a:r>
                        <a:rPr lang="en-US" altLang="zh-CN" sz="1050" b="1">
                          <a:sym typeface="+mn-ea"/>
                        </a:rPr>
                        <a:t>algrithm</a:t>
                      </a:r>
                      <a:endParaRPr lang="zh-CN" altLang="en-US" sz="1050" b="1"/>
                    </a:p>
                  </p:txBody>
                </p:sp>
                <p:sp>
                  <p:nvSpPr>
                    <p:cNvPr id="26" name="云形 25"/>
                    <p:cNvSpPr/>
                    <p:nvPr/>
                  </p:nvSpPr>
                  <p:spPr>
                    <a:xfrm>
                      <a:off x="6413" y="7056"/>
                      <a:ext cx="6087" cy="3084"/>
                    </a:xfrm>
                    <a:prstGeom prst="cloud">
                      <a:avLst/>
                    </a:prstGeom>
                    <a:noFill/>
                    <a:ln>
                      <a:solidFill>
                        <a:srgbClr val="00B05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3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" name="任意多边形 26"/>
                    <p:cNvSpPr/>
                    <p:nvPr/>
                  </p:nvSpPr>
                  <p:spPr>
                    <a:xfrm>
                      <a:off x="4077" y="6415"/>
                      <a:ext cx="10131" cy="1986"/>
                    </a:xfrm>
                    <a:custGeom>
                      <a:avLst/>
                      <a:gdLst>
                        <a:gd name="connisteX0" fmla="*/ 0 w 5195570"/>
                        <a:gd name="connsiteY0" fmla="*/ 0 h 1344111"/>
                        <a:gd name="connisteX1" fmla="*/ 1019175 w 5195570"/>
                        <a:gd name="connsiteY1" fmla="*/ 1217295 h 1344111"/>
                        <a:gd name="connisteX2" fmla="*/ 5195570 w 5195570"/>
                        <a:gd name="connsiteY2" fmla="*/ 1293495 h 1344111"/>
                        <a:gd name="connisteX3" fmla="*/ 5294630 w 5195570"/>
                        <a:gd name="connsiteY3" fmla="*/ 1423035 h 1344111"/>
                      </a:gdLst>
                      <a:ahLst/>
                      <a:cxnLst>
                        <a:cxn ang="0">
                          <a:pos x="connisteX0" y="connsiteY0"/>
                        </a:cxn>
                        <a:cxn ang="0">
                          <a:pos x="connisteX1" y="connsiteY1"/>
                        </a:cxn>
                        <a:cxn ang="0">
                          <a:pos x="connisteX2" y="connsiteY2"/>
                        </a:cxn>
                        <a:cxn ang="0">
                          <a:pos x="connisteX3" y="connsiteY3"/>
                        </a:cxn>
                      </a:cxnLst>
                      <a:rect l="l" t="t" r="r" b="b"/>
                      <a:pathLst>
                        <a:path w="5195570" h="1344111">
                          <a:moveTo>
                            <a:pt x="0" y="0"/>
                          </a:moveTo>
                          <a:cubicBezTo>
                            <a:pt x="120015" y="241935"/>
                            <a:pt x="-19685" y="958850"/>
                            <a:pt x="1019175" y="1217295"/>
                          </a:cubicBezTo>
                          <a:cubicBezTo>
                            <a:pt x="2058035" y="1475740"/>
                            <a:pt x="4340225" y="1252220"/>
                            <a:pt x="5195570" y="1293495"/>
                          </a:cubicBezTo>
                        </a:path>
                      </a:pathLst>
                    </a:custGeom>
                    <a:noFill/>
                    <a:ln w="28575" cap="flat" cmpd="dbl" algn="ctr">
                      <a:solidFill>
                        <a:schemeClr val="accent1">
                          <a:shade val="50000"/>
                        </a:schemeClr>
                      </a:solidFill>
                      <a:prstDash val="sysDash"/>
                      <a:round/>
                      <a:headEnd type="none" w="med" len="med"/>
                      <a:tailEnd type="arrow" w="med" len="med"/>
                    </a:ln>
                  </p:spPr>
                  <p:txBody>
                    <a:bodyPr vert="horz" wrap="square" lIns="68580" tIns="34290" rIns="68580" bIns="34290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3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" name="任意多边形 27"/>
                    <p:cNvSpPr/>
                    <p:nvPr/>
                  </p:nvSpPr>
                  <p:spPr>
                    <a:xfrm flipV="1">
                      <a:off x="4185" y="8399"/>
                      <a:ext cx="9918" cy="120"/>
                    </a:xfrm>
                    <a:custGeom>
                      <a:avLst/>
                      <a:gdLst>
                        <a:gd name="connisteX0" fmla="*/ 0 w 5264785"/>
                        <a:gd name="connsiteY0" fmla="*/ 4096 h 4096"/>
                        <a:gd name="connisteX1" fmla="*/ 5264785 w 5264785"/>
                        <a:gd name="connsiteY1" fmla="*/ 4096 h 4096"/>
                        <a:gd name="connisteX2" fmla="*/ 5280025 w 5264785"/>
                        <a:gd name="connsiteY2" fmla="*/ 49816 h 4096"/>
                      </a:gdLst>
                      <a:ahLst/>
                      <a:cxnLst>
                        <a:cxn ang="0">
                          <a:pos x="connisteX0" y="connsiteY0"/>
                        </a:cxn>
                        <a:cxn ang="0">
                          <a:pos x="connisteX1" y="connsiteY1"/>
                        </a:cxn>
                        <a:cxn ang="0">
                          <a:pos x="connisteX2" y="connsiteY2"/>
                        </a:cxn>
                      </a:cxnLst>
                      <a:rect l="l" t="t" r="r" b="b"/>
                      <a:pathLst>
                        <a:path w="5264785" h="4096">
                          <a:moveTo>
                            <a:pt x="0" y="4096"/>
                          </a:moveTo>
                          <a:cubicBezTo>
                            <a:pt x="1052830" y="3461"/>
                            <a:pt x="4208780" y="-4794"/>
                            <a:pt x="5264785" y="4096"/>
                          </a:cubicBezTo>
                        </a:path>
                      </a:pathLst>
                    </a:custGeom>
                    <a:noFill/>
                    <a:ln w="28575" cap="flat" cmpd="dbl" algn="ctr">
                      <a:solidFill>
                        <a:schemeClr val="accent1">
                          <a:shade val="50000"/>
                        </a:schemeClr>
                      </a:solidFill>
                      <a:prstDash val="sysDash"/>
                      <a:round/>
                      <a:headEnd type="none" w="med" len="med"/>
                      <a:tailEnd type="arrow" w="med" len="med"/>
                    </a:ln>
                  </p:spPr>
                  <p:txBody>
                    <a:bodyPr vert="horz" wrap="square" lIns="68580" tIns="34290" rIns="68580" bIns="34290" numCol="1" anchor="t" anchorCtr="0" compatLnSpc="1">
                      <a:noAutofit/>
                    </a:bodyPr>
                    <a:lstStyle/>
                    <a:p>
                      <a:pPr lvl="0" algn="l">
                        <a:buClrTx/>
                        <a:buSzTx/>
                      </a:pPr>
                      <a:endParaRPr lang="zh-CN" altLang="en-US" sz="1350">
                        <a:ln>
                          <a:noFill/>
                        </a:ln>
                        <a:effectLst/>
                        <a:cs typeface="Arial" panose="020B0604020202020204" pitchFamily="34" charset="0"/>
                        <a:sym typeface="+mn-ea"/>
                      </a:endParaRPr>
                    </a:p>
                  </p:txBody>
                </p:sp>
                <p:sp>
                  <p:nvSpPr>
                    <p:cNvPr id="29" name="文本框 28"/>
                    <p:cNvSpPr txBox="1"/>
                    <p:nvPr/>
                  </p:nvSpPr>
                  <p:spPr>
                    <a:xfrm>
                      <a:off x="14443" y="5477"/>
                      <a:ext cx="2961" cy="5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b="1"/>
                        <a:t>Server</a:t>
                      </a:r>
                    </a:p>
                  </p:txBody>
                </p:sp>
                <p:sp>
                  <p:nvSpPr>
                    <p:cNvPr id="31" name="矩形 30"/>
                    <p:cNvSpPr/>
                    <p:nvPr/>
                  </p:nvSpPr>
                  <p:spPr>
                    <a:xfrm>
                      <a:off x="1666" y="7946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2" name="矩形 31"/>
                    <p:cNvSpPr/>
                    <p:nvPr/>
                  </p:nvSpPr>
                  <p:spPr>
                    <a:xfrm>
                      <a:off x="14624" y="8063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3" name="矩形 32"/>
                    <p:cNvSpPr/>
                    <p:nvPr/>
                  </p:nvSpPr>
                  <p:spPr>
                    <a:xfrm>
                      <a:off x="1294" y="9256"/>
                      <a:ext cx="3066" cy="1040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1652" y="9323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1294" y="6434"/>
                      <a:ext cx="3066" cy="1048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7" name="矩形 36"/>
                    <p:cNvSpPr/>
                    <p:nvPr/>
                  </p:nvSpPr>
                  <p:spPr>
                    <a:xfrm>
                      <a:off x="1652" y="6502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</p:grpSp>
              <p:grpSp>
                <p:nvGrpSpPr>
                  <p:cNvPr id="52" name="组合 51"/>
                  <p:cNvGrpSpPr/>
                  <p:nvPr/>
                </p:nvGrpSpPr>
                <p:grpSpPr>
                  <a:xfrm>
                    <a:off x="6099" y="3711"/>
                    <a:ext cx="4219" cy="2154"/>
                    <a:chOff x="6762" y="4068"/>
                    <a:chExt cx="4219" cy="2154"/>
                  </a:xfrm>
                </p:grpSpPr>
                <p:sp>
                  <p:nvSpPr>
                    <p:cNvPr id="126" name="矩形 125"/>
                    <p:cNvSpPr/>
                    <p:nvPr/>
                  </p:nvSpPr>
                  <p:spPr>
                    <a:xfrm>
                      <a:off x="7668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7" name="矩形 126"/>
                    <p:cNvSpPr/>
                    <p:nvPr/>
                  </p:nvSpPr>
                  <p:spPr>
                    <a:xfrm>
                      <a:off x="7747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8" name="矩形 127"/>
                    <p:cNvSpPr/>
                    <p:nvPr/>
                  </p:nvSpPr>
                  <p:spPr>
                    <a:xfrm>
                      <a:off x="7815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" name="椭圆 52"/>
                    <p:cNvSpPr/>
                    <p:nvPr/>
                  </p:nvSpPr>
                  <p:spPr>
                    <a:xfrm>
                      <a:off x="6915" y="5689"/>
                      <a:ext cx="210" cy="533"/>
                    </a:xfrm>
                    <a:prstGeom prst="ellipse">
                      <a:avLst/>
                    </a:prstGeom>
                    <a:noFill/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>
                      <a:noAutofit/>
                    </a:bodyPr>
                    <a:lstStyle/>
                    <a:p>
                      <a:pPr lvl="0" algn="l" defTabSz="457200" fontAlgn="base">
                        <a:buClrTx/>
                        <a:buSzTx/>
                        <a:buFont typeface="Arial" panose="020B0604020202020204" pitchFamily="34" charset="0"/>
                      </a:pPr>
                      <a:endParaRPr lang="zh-CN" altLang="en-US" sz="1015">
                        <a:ln>
                          <a:noFill/>
                        </a:ln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p:txBody>
                </p:sp>
                <p:cxnSp>
                  <p:nvCxnSpPr>
                    <p:cNvPr id="54" name="直接连接符 53"/>
                    <p:cNvCxnSpPr>
                      <a:endCxn id="57" idx="2"/>
                    </p:cNvCxnSpPr>
                    <p:nvPr/>
                  </p:nvCxnSpPr>
                  <p:spPr>
                    <a:xfrm flipV="1">
                      <a:off x="7066" y="6190"/>
                      <a:ext cx="3467" cy="13"/>
                    </a:xfrm>
                    <a:prstGeom prst="line">
                      <a:avLst/>
                    </a:prstGeom>
                    <a:solidFill>
                      <a:srgbClr val="00A651"/>
                    </a:solidFill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5" name="直接连接符 54"/>
                    <p:cNvCxnSpPr/>
                    <p:nvPr/>
                  </p:nvCxnSpPr>
                  <p:spPr>
                    <a:xfrm>
                      <a:off x="7067" y="5671"/>
                      <a:ext cx="3482" cy="11"/>
                    </a:xfrm>
                    <a:prstGeom prst="line">
                      <a:avLst/>
                    </a:prstGeom>
                    <a:solidFill>
                      <a:srgbClr val="00A651"/>
                    </a:solidFill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</p:cxnSp>
                <p:sp>
                  <p:nvSpPr>
                    <p:cNvPr id="57" name="弧形 56"/>
                    <p:cNvSpPr/>
                    <p:nvPr/>
                  </p:nvSpPr>
                  <p:spPr>
                    <a:xfrm>
                      <a:off x="10407" y="5700"/>
                      <a:ext cx="284" cy="492"/>
                    </a:xfrm>
                    <a:prstGeom prst="arc">
                      <a:avLst>
                        <a:gd name="adj1" fmla="val 16200000"/>
                        <a:gd name="adj2" fmla="val 5621483"/>
                      </a:avLst>
                    </a:prstGeom>
                    <a:noFill/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8" name="文本框 57"/>
                    <p:cNvSpPr txBox="1"/>
                    <p:nvPr/>
                  </p:nvSpPr>
                  <p:spPr>
                    <a:xfrm>
                      <a:off x="6762" y="4068"/>
                      <a:ext cx="4219" cy="5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00">
                          <a:latin typeface="Cambria" panose="02040503050406030204" charset="0"/>
                          <a:cs typeface="Cambria" panose="02040503050406030204" charset="0"/>
                        </a:rPr>
                        <a:t>Rate-based quato reservation </a:t>
                      </a:r>
                    </a:p>
                  </p:txBody>
                </p:sp>
              </p:grpSp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1086" y="4121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algrithm</a:t>
                    </a:r>
                    <a:endParaRPr lang="zh-CN" altLang="en-US" sz="1050" b="1"/>
                  </a:p>
                </p:txBody>
              </p:sp>
              <p:sp>
                <p:nvSpPr>
                  <p:cNvPr id="60" name="文本框 59"/>
                  <p:cNvSpPr txBox="1"/>
                  <p:nvPr/>
                </p:nvSpPr>
                <p:spPr>
                  <a:xfrm>
                    <a:off x="985" y="5421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984" y="6620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232" y="3279"/>
                    <a:ext cx="3209" cy="4142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"/>
                  </a:p>
                </p:txBody>
              </p:sp>
              <p:sp>
                <p:nvSpPr>
                  <p:cNvPr id="39" name="矩形 38"/>
                  <p:cNvSpPr/>
                  <p:nvPr/>
                </p:nvSpPr>
                <p:spPr>
                  <a:xfrm>
                    <a:off x="12391" y="3351"/>
                    <a:ext cx="3209" cy="4131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"/>
                  </a:p>
                </p:txBody>
              </p:sp>
            </p:grpSp>
            <p:sp>
              <p:nvSpPr>
                <p:cNvPr id="66" name="文本框 65"/>
                <p:cNvSpPr txBox="1"/>
                <p:nvPr/>
              </p:nvSpPr>
              <p:spPr>
                <a:xfrm>
                  <a:off x="3266" y="4319"/>
                  <a:ext cx="4219" cy="5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zh-CN" sz="1000" i="1">
                      <a:latin typeface="Calibri Light" panose="020F0302020204030204" charset="0"/>
                      <a:cs typeface="Calibri Light" panose="020F0302020204030204" charset="0"/>
                      <a:sym typeface="+mn-ea"/>
                    </a:rPr>
                    <a:t>Negotiated Rate</a:t>
                  </a:r>
                </a:p>
              </p:txBody>
            </p:sp>
            <p:sp>
              <p:nvSpPr>
                <p:cNvPr id="69" name="六边形 68"/>
                <p:cNvSpPr/>
                <p:nvPr/>
              </p:nvSpPr>
              <p:spPr>
                <a:xfrm>
                  <a:off x="5020" y="5229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Ingress</a:t>
                  </a:r>
                </a:p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Edge</a:t>
                  </a:r>
                </a:p>
              </p:txBody>
            </p:sp>
            <p:sp>
              <p:nvSpPr>
                <p:cNvPr id="70" name="六边形 69"/>
                <p:cNvSpPr/>
                <p:nvPr/>
              </p:nvSpPr>
              <p:spPr>
                <a:xfrm>
                  <a:off x="10145" y="5292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Egress</a:t>
                  </a:r>
                </a:p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Edge</a:t>
                  </a:r>
                </a:p>
              </p:txBody>
            </p:sp>
            <p:sp>
              <p:nvSpPr>
                <p:cNvPr id="71" name="六边形 70"/>
                <p:cNvSpPr/>
                <p:nvPr/>
              </p:nvSpPr>
              <p:spPr>
                <a:xfrm>
                  <a:off x="7441" y="5293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Transit Node</a:t>
                  </a:r>
                </a:p>
              </p:txBody>
            </p:sp>
          </p:grpSp>
          <p:sp>
            <p:nvSpPr>
              <p:cNvPr id="40" name="文本框 39"/>
              <p:cNvSpPr txBox="1"/>
              <p:nvPr/>
            </p:nvSpPr>
            <p:spPr>
              <a:xfrm>
                <a:off x="2704" y="6058"/>
                <a:ext cx="2056" cy="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/>
                  <a:t>Client</a:t>
                </a: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6921" y="6511"/>
                <a:ext cx="4595" cy="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latin typeface="Cambria" panose="02040503050406030204" charset="0"/>
                    <a:cs typeface="Cambria" panose="02040503050406030204" charset="0"/>
                    <a:sym typeface="+mn-ea"/>
                  </a:rPr>
                  <a:t>Traffic scheduling and enforcement</a:t>
                </a:r>
              </a:p>
            </p:txBody>
          </p:sp>
        </p:grpSp>
        <p:sp>
          <p:nvSpPr>
            <p:cNvPr id="44" name="圆角矩形 43"/>
            <p:cNvSpPr/>
            <p:nvPr/>
          </p:nvSpPr>
          <p:spPr>
            <a:xfrm>
              <a:off x="7690" y="6249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2234" y="6195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2603" y="6249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cxnSp>
          <p:nvCxnSpPr>
            <p:cNvPr id="56" name="直接箭头连接符 55"/>
            <p:cNvCxnSpPr>
              <a:stCxn id="44" idx="2"/>
            </p:cNvCxnSpPr>
            <p:nvPr/>
          </p:nvCxnSpPr>
          <p:spPr>
            <a:xfrm flipH="1">
              <a:off x="6678" y="6801"/>
              <a:ext cx="2233" cy="1799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 flipH="1">
              <a:off x="8846" y="6868"/>
              <a:ext cx="115" cy="1764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/>
            <p:nvPr/>
          </p:nvCxnSpPr>
          <p:spPr>
            <a:xfrm>
              <a:off x="9134" y="6849"/>
              <a:ext cx="1879" cy="1745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圆角矩形 74"/>
            <p:cNvSpPr/>
            <p:nvPr/>
          </p:nvSpPr>
          <p:spPr>
            <a:xfrm>
              <a:off x="7657" y="4817"/>
              <a:ext cx="2441" cy="55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mbria" panose="02040503050406030204" charset="0"/>
                  <a:cs typeface="Cambria" panose="02040503050406030204" charset="0"/>
                  <a:sym typeface="+mn-ea"/>
                </a:rPr>
                <a:t>Orchestrator </a:t>
              </a:r>
            </a:p>
          </p:txBody>
        </p:sp>
        <p:cxnSp>
          <p:nvCxnSpPr>
            <p:cNvPr id="76" name="直接箭头连接符 75"/>
            <p:cNvCxnSpPr>
              <a:stCxn id="75" idx="2"/>
              <a:endCxn id="47" idx="0"/>
            </p:cNvCxnSpPr>
            <p:nvPr/>
          </p:nvCxnSpPr>
          <p:spPr>
            <a:xfrm flipH="1">
              <a:off x="3455" y="5369"/>
              <a:ext cx="5423" cy="826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endCxn id="51" idx="0"/>
            </p:cNvCxnSpPr>
            <p:nvPr/>
          </p:nvCxnSpPr>
          <p:spPr>
            <a:xfrm>
              <a:off x="8865" y="5391"/>
              <a:ext cx="4959" cy="858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>
              <a:endCxn id="44" idx="0"/>
            </p:cNvCxnSpPr>
            <p:nvPr/>
          </p:nvCxnSpPr>
          <p:spPr>
            <a:xfrm>
              <a:off x="8884" y="5429"/>
              <a:ext cx="27" cy="820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5304" y="5083"/>
              <a:ext cx="2581" cy="3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Requests(traffic pattern)</a:t>
              </a:r>
            </a:p>
          </p:txBody>
        </p:sp>
        <p:cxnSp>
          <p:nvCxnSpPr>
            <p:cNvPr id="83" name="直接箭头连接符 82"/>
            <p:cNvCxnSpPr>
              <a:endCxn id="75" idx="1"/>
            </p:cNvCxnSpPr>
            <p:nvPr/>
          </p:nvCxnSpPr>
          <p:spPr>
            <a:xfrm flipV="1">
              <a:off x="6007" y="5093"/>
              <a:ext cx="1650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3083" y="5589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Acknowledgement 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846" y="5646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000">
                  <a:latin typeface="Cambria" panose="02040503050406030204" charset="0"/>
                  <a:cs typeface="Cambria" panose="02040503050406030204" charset="0"/>
                </a:rPr>
                <a:t>Rate Negotiation</a:t>
              </a:r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 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021" y="5646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000">
                  <a:latin typeface="Cambria" panose="02040503050406030204" charset="0"/>
                  <a:cs typeface="Cambria" panose="02040503050406030204" charset="0"/>
                </a:rPr>
                <a:t>Admission Control</a:t>
              </a:r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 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1163" y="5429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Acknowledgement </a:t>
              </a:r>
            </a:p>
          </p:txBody>
        </p:sp>
        <p:cxnSp>
          <p:nvCxnSpPr>
            <p:cNvPr id="91" name="直接箭头连接符 90"/>
            <p:cNvCxnSpPr/>
            <p:nvPr/>
          </p:nvCxnSpPr>
          <p:spPr>
            <a:xfrm>
              <a:off x="5064" y="8916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>
              <a:off x="5064" y="9052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07415" y="1743075"/>
            <a:ext cx="103771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3200" b="1">
                <a:latin typeface="Cambria" panose="02040503050406030204" charset="0"/>
                <a:cs typeface="Cambria" panose="02040503050406030204" charset="0"/>
              </a:rPr>
              <a:t>Thanks !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3200" b="1">
                <a:latin typeface="Cambria" panose="02040503050406030204" charset="0"/>
                <a:cs typeface="Cambria" panose="02040503050406030204" charset="0"/>
              </a:rPr>
              <a:t>Comments and suggestions are welcome.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"/>
  <p:tag name="KSO_WM_TAG_VERSION" val="1.0"/>
  <p:tag name="KSO_WM_BEAUTIFY_FLAG" val="#wm#"/>
  <p:tag name="KSO_WM_TEMPLATE_THUMBS_INDEX" val="1、3、4、5、7、9、11、12、15、19、21、24、25、"/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4_2"/>
  <p:tag name="KSO_WM_UNIT_ID" val="custom1_5*m_h_i*1_4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1_2"/>
  <p:tag name="KSO_WM_UNIT_ID" val="custom1_5*m_h_i*1_1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heme/theme1.xml><?xml version="1.0" encoding="utf-8"?>
<a:theme xmlns:a="http://schemas.openxmlformats.org/drawingml/2006/main" name="1_team report">
  <a:themeElements>
    <a:clrScheme name="自定义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809</Words>
  <Application>Microsoft Office PowerPoint</Application>
  <PresentationFormat>Widescreen</PresentationFormat>
  <Paragraphs>102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微软雅黑</vt:lpstr>
      <vt:lpstr>黑体</vt:lpstr>
      <vt:lpstr>Arial</vt:lpstr>
      <vt:lpstr>Calibri</vt:lpstr>
      <vt:lpstr>Calibri Light</vt:lpstr>
      <vt:lpstr>Cambria</vt:lpstr>
      <vt:lpstr>1_team report</vt:lpstr>
      <vt:lpstr>PowerPoint Presentation</vt:lpstr>
      <vt:lpstr>HP-WAN Quick Reminder</vt:lpstr>
      <vt:lpstr>Two Important Documents</vt:lpstr>
      <vt:lpstr>PowerPoint Presentation</vt:lpstr>
      <vt:lpstr>PowerPoint Presentation</vt:lpstr>
      <vt:lpstr>Host-network Collaboration in Distributed Signaling 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李庆芳</dc:creator>
  <cp:lastModifiedBy>Daniel King</cp:lastModifiedBy>
  <cp:revision>1323</cp:revision>
  <dcterms:created xsi:type="dcterms:W3CDTF">2024-03-17T11:33:00Z</dcterms:created>
  <dcterms:modified xsi:type="dcterms:W3CDTF">2025-11-02T07:37:12Z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2052-11.8.2.12085</vt:lpwstr>
  </property>
  <property fmtid="{D5CDD505-2E9C-101B-9397-08002B2CF9AE}" pid="3" name="ICV">
    <vt:lpwstr>CC21C10FDF814000BA9DC3629D636F9B</vt:lpwstr>
  </property>
</Properties>
</file>